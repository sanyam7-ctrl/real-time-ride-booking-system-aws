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nantason" charset="1" panose="00000000000000000000"/>
      <p:regular r:id="rId17"/>
    </p:embeddedFont>
    <p:embeddedFont>
      <p:font typeface="Muli" charset="1" panose="00000500000000000000"/>
      <p:regular r:id="rId18"/>
    </p:embeddedFont>
    <p:embeddedFont>
      <p:font typeface="Anantason Bold" charset="1" panose="00000000000000000000"/>
      <p:regular r:id="rId19"/>
    </p:embeddedFont>
    <p:embeddedFont>
      <p:font typeface="Times New Roman MT" charset="1" panose="02030502070405020303"/>
      <p:regular r:id="rId20"/>
    </p:embeddedFont>
    <p:embeddedFont>
      <p:font typeface="Bebas Neue Bold" charset="1" panose="020B0606020202050201"/>
      <p:regular r:id="rId21"/>
    </p:embeddedFont>
    <p:embeddedFont>
      <p:font typeface="Canva Sans" charset="1" panose="020B0503030501040103"/>
      <p:regular r:id="rId22"/>
    </p:embeddedFont>
    <p:embeddedFont>
      <p:font typeface="Atkinson Hyperlegible" charset="1" panose="00000000000000000000"/>
      <p:regular r:id="rId23"/>
    </p:embeddedFont>
    <p:embeddedFont>
      <p:font typeface="Canva Sans Bold" charset="1" panose="020B0803030501040103"/>
      <p:regular r:id="rId24"/>
    </p:embeddedFont>
    <p:embeddedFont>
      <p:font typeface="Garet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jpeg" Type="http://schemas.openxmlformats.org/officeDocument/2006/relationships/image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555" r="0" b="-34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65972" y="-1942437"/>
            <a:ext cx="6879800" cy="7085937"/>
          </a:xfrm>
          <a:custGeom>
            <a:avLst/>
            <a:gdLst/>
            <a:ahLst/>
            <a:cxnLst/>
            <a:rect r="r" b="b" t="t" l="l"/>
            <a:pathLst>
              <a:path h="7085937" w="6879800">
                <a:moveTo>
                  <a:pt x="0" y="0"/>
                </a:moveTo>
                <a:lnTo>
                  <a:pt x="6879800" y="0"/>
                </a:lnTo>
                <a:lnTo>
                  <a:pt x="6879800" y="7085937"/>
                </a:lnTo>
                <a:lnTo>
                  <a:pt x="0" y="70859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57538" y="3482220"/>
            <a:ext cx="5861754" cy="6358905"/>
          </a:xfrm>
          <a:custGeom>
            <a:avLst/>
            <a:gdLst/>
            <a:ahLst/>
            <a:cxnLst/>
            <a:rect r="r" b="b" t="t" l="l"/>
            <a:pathLst>
              <a:path h="6358905" w="5861754">
                <a:moveTo>
                  <a:pt x="0" y="0"/>
                </a:moveTo>
                <a:lnTo>
                  <a:pt x="5861755" y="0"/>
                </a:lnTo>
                <a:lnTo>
                  <a:pt x="5861755" y="6358905"/>
                </a:lnTo>
                <a:lnTo>
                  <a:pt x="0" y="6358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87604">
            <a:off x="10875923" y="2945689"/>
            <a:ext cx="6224985" cy="6224985"/>
          </a:xfrm>
          <a:custGeom>
            <a:avLst/>
            <a:gdLst/>
            <a:ahLst/>
            <a:cxnLst/>
            <a:rect r="r" b="b" t="t" l="l"/>
            <a:pathLst>
              <a:path h="6224985" w="6224985">
                <a:moveTo>
                  <a:pt x="0" y="0"/>
                </a:moveTo>
                <a:lnTo>
                  <a:pt x="6224985" y="0"/>
                </a:lnTo>
                <a:lnTo>
                  <a:pt x="6224985" y="6224984"/>
                </a:lnTo>
                <a:lnTo>
                  <a:pt x="0" y="6224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840930" y="5815487"/>
            <a:ext cx="5949511" cy="6127774"/>
          </a:xfrm>
          <a:custGeom>
            <a:avLst/>
            <a:gdLst/>
            <a:ahLst/>
            <a:cxnLst/>
            <a:rect r="r" b="b" t="t" l="l"/>
            <a:pathLst>
              <a:path h="6127774" w="5949511">
                <a:moveTo>
                  <a:pt x="0" y="0"/>
                </a:moveTo>
                <a:lnTo>
                  <a:pt x="5949512" y="0"/>
                </a:lnTo>
                <a:lnTo>
                  <a:pt x="5949512" y="6127774"/>
                </a:lnTo>
                <a:lnTo>
                  <a:pt x="0" y="61277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059781">
            <a:off x="14956653" y="7501999"/>
            <a:ext cx="1443420" cy="753203"/>
          </a:xfrm>
          <a:custGeom>
            <a:avLst/>
            <a:gdLst/>
            <a:ahLst/>
            <a:cxnLst/>
            <a:rect r="r" b="b" t="t" l="l"/>
            <a:pathLst>
              <a:path h="753203" w="1443420">
                <a:moveTo>
                  <a:pt x="0" y="0"/>
                </a:moveTo>
                <a:lnTo>
                  <a:pt x="1443420" y="0"/>
                </a:lnTo>
                <a:lnTo>
                  <a:pt x="1443420" y="753203"/>
                </a:lnTo>
                <a:lnTo>
                  <a:pt x="0" y="7532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34095" y="3546199"/>
            <a:ext cx="1170323" cy="1170323"/>
          </a:xfrm>
          <a:custGeom>
            <a:avLst/>
            <a:gdLst/>
            <a:ahLst/>
            <a:cxnLst/>
            <a:rect r="r" b="b" t="t" l="l"/>
            <a:pathLst>
              <a:path h="1170323" w="1170323">
                <a:moveTo>
                  <a:pt x="0" y="0"/>
                </a:moveTo>
                <a:lnTo>
                  <a:pt x="1170323" y="0"/>
                </a:lnTo>
                <a:lnTo>
                  <a:pt x="1170323" y="1170322"/>
                </a:lnTo>
                <a:lnTo>
                  <a:pt x="0" y="11703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52402" y="4567084"/>
            <a:ext cx="4272028" cy="2275826"/>
          </a:xfrm>
          <a:custGeom>
            <a:avLst/>
            <a:gdLst/>
            <a:ahLst/>
            <a:cxnLst/>
            <a:rect r="r" b="b" t="t" l="l"/>
            <a:pathLst>
              <a:path h="2275826" w="4272028">
                <a:moveTo>
                  <a:pt x="0" y="0"/>
                </a:moveTo>
                <a:lnTo>
                  <a:pt x="4272027" y="0"/>
                </a:lnTo>
                <a:lnTo>
                  <a:pt x="4272027" y="2275825"/>
                </a:lnTo>
                <a:lnTo>
                  <a:pt x="0" y="227582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65158" y="519579"/>
            <a:ext cx="1080953" cy="1080953"/>
          </a:xfrm>
          <a:custGeom>
            <a:avLst/>
            <a:gdLst/>
            <a:ahLst/>
            <a:cxnLst/>
            <a:rect r="r" b="b" t="t" l="l"/>
            <a:pathLst>
              <a:path h="1080953" w="1080953">
                <a:moveTo>
                  <a:pt x="0" y="0"/>
                </a:moveTo>
                <a:lnTo>
                  <a:pt x="1080953" y="0"/>
                </a:lnTo>
                <a:lnTo>
                  <a:pt x="1080953" y="1080953"/>
                </a:lnTo>
                <a:lnTo>
                  <a:pt x="0" y="108095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757468"/>
            <a:ext cx="7778842" cy="2613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98"/>
              </a:lnSpc>
            </a:pPr>
            <a:r>
              <a:rPr lang="en-US" sz="9804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 Real-Time </a:t>
            </a:r>
          </a:p>
          <a:p>
            <a:pPr algn="l" marL="0" indent="0" lvl="0">
              <a:lnSpc>
                <a:spcPts val="1009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438767" y="8087360"/>
            <a:ext cx="8449882" cy="117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Fully Serverless  and  Event Driven architecture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229353" y="842679"/>
            <a:ext cx="4029947" cy="757852"/>
            <a:chOff x="0" y="0"/>
            <a:chExt cx="5373262" cy="101047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9050"/>
              <a:ext cx="5373262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 spc="191" u="none">
                  <a:solidFill>
                    <a:srgbClr val="FFFFFF"/>
                  </a:solidFill>
                  <a:latin typeface="Anantason Bold"/>
                  <a:ea typeface="Anantason Bold"/>
                  <a:cs typeface="Anantason Bold"/>
                  <a:sym typeface="Anantason Bold"/>
                </a:rPr>
                <a:t>PRESENTED BY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46073"/>
              <a:ext cx="5373262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Sanyam Atrey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65158" y="4297744"/>
            <a:ext cx="7778842" cy="133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98"/>
              </a:lnSpc>
            </a:pPr>
            <a:r>
              <a:rPr lang="en-US" sz="9804">
                <a:solidFill>
                  <a:srgbClr val="FFDE59"/>
                </a:solidFill>
                <a:latin typeface="Anantason"/>
                <a:ea typeface="Anantason"/>
                <a:cs typeface="Anantason"/>
                <a:sym typeface="Anantason"/>
              </a:rPr>
              <a:t>Ride Booking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5158" y="5791440"/>
            <a:ext cx="7778842" cy="133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98"/>
              </a:lnSpc>
            </a:pPr>
            <a:r>
              <a:rPr lang="en-US" sz="9804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System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32749" y="709329"/>
            <a:ext cx="3617714" cy="63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Using AWS Services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555" r="0" b="-34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1013" y="1388260"/>
            <a:ext cx="7641094" cy="7870040"/>
          </a:xfrm>
          <a:custGeom>
            <a:avLst/>
            <a:gdLst/>
            <a:ahLst/>
            <a:cxnLst/>
            <a:rect r="r" b="b" t="t" l="l"/>
            <a:pathLst>
              <a:path h="7870040" w="7641094">
                <a:moveTo>
                  <a:pt x="0" y="0"/>
                </a:moveTo>
                <a:lnTo>
                  <a:pt x="7641094" y="0"/>
                </a:lnTo>
                <a:lnTo>
                  <a:pt x="7641094" y="7870040"/>
                </a:lnTo>
                <a:lnTo>
                  <a:pt x="0" y="7870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34008" y="5960200"/>
            <a:ext cx="3298100" cy="3298100"/>
          </a:xfrm>
          <a:custGeom>
            <a:avLst/>
            <a:gdLst/>
            <a:ahLst/>
            <a:cxnLst/>
            <a:rect r="r" b="b" t="t" l="l"/>
            <a:pathLst>
              <a:path h="3298100" w="3298100">
                <a:moveTo>
                  <a:pt x="0" y="0"/>
                </a:moveTo>
                <a:lnTo>
                  <a:pt x="3298099" y="0"/>
                </a:lnTo>
                <a:lnTo>
                  <a:pt x="3298099" y="3298100"/>
                </a:lnTo>
                <a:lnTo>
                  <a:pt x="0" y="3298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8019" y="1028700"/>
            <a:ext cx="2846035" cy="2931310"/>
          </a:xfrm>
          <a:custGeom>
            <a:avLst/>
            <a:gdLst/>
            <a:ahLst/>
            <a:cxnLst/>
            <a:rect r="r" b="b" t="t" l="l"/>
            <a:pathLst>
              <a:path h="2931310" w="2846035">
                <a:moveTo>
                  <a:pt x="0" y="0"/>
                </a:moveTo>
                <a:lnTo>
                  <a:pt x="2846035" y="0"/>
                </a:lnTo>
                <a:lnTo>
                  <a:pt x="2846035" y="2931310"/>
                </a:lnTo>
                <a:lnTo>
                  <a:pt x="0" y="29313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380942" y="3277553"/>
            <a:ext cx="7878358" cy="3731895"/>
            <a:chOff x="0" y="0"/>
            <a:chExt cx="10504477" cy="497586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525"/>
              <a:ext cx="10504477" cy="1704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199"/>
                </a:lnSpc>
              </a:pPr>
              <a:r>
                <a:rPr lang="en-US" sz="8499">
                  <a:solidFill>
                    <a:srgbClr val="FFFFFF"/>
                  </a:solidFill>
                  <a:latin typeface="Anantason"/>
                  <a:ea typeface="Anantason"/>
                  <a:cs typeface="Anantason"/>
                  <a:sym typeface="Anantason"/>
                </a:rPr>
                <a:t>About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384425"/>
              <a:ext cx="9006920" cy="2591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My project is a Real-Time Ride Booking System using AWS serverless architecture. When a user books a ride, the system assigns a driver automatically, stores data in a database, and sends a real-time notification.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76700" y="-1636318"/>
            <a:ext cx="8680381" cy="11710992"/>
          </a:xfrm>
          <a:custGeom>
            <a:avLst/>
            <a:gdLst/>
            <a:ahLst/>
            <a:cxnLst/>
            <a:rect r="r" b="b" t="t" l="l"/>
            <a:pathLst>
              <a:path h="11710992" w="8680381">
                <a:moveTo>
                  <a:pt x="0" y="0"/>
                </a:moveTo>
                <a:lnTo>
                  <a:pt x="8680381" y="0"/>
                </a:lnTo>
                <a:lnTo>
                  <a:pt x="8680381" y="11710992"/>
                </a:lnTo>
                <a:lnTo>
                  <a:pt x="0" y="11710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4255" t="-2494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3236415"/>
            <a:ext cx="12450343" cy="519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4250" indent="-632125" lvl="1">
              <a:lnSpc>
                <a:spcPts val="8198"/>
              </a:lnSpc>
              <a:buFont typeface="Arial"/>
              <a:buChar char="•"/>
            </a:pPr>
            <a:r>
              <a:rPr lang="en-US" b="true" sz="5855">
                <a:solidFill>
                  <a:srgbClr val="FF9A0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Lambda</a:t>
            </a:r>
            <a:r>
              <a:rPr lang="en-US" b="true" sz="585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→ backend logic</a:t>
            </a:r>
          </a:p>
          <a:p>
            <a:pPr algn="l" marL="1264250" indent="-632125" lvl="1">
              <a:lnSpc>
                <a:spcPts val="8198"/>
              </a:lnSpc>
              <a:buFont typeface="Arial"/>
              <a:buChar char="•"/>
            </a:pPr>
            <a:r>
              <a:rPr lang="en-US" b="true" sz="5855">
                <a:solidFill>
                  <a:srgbClr val="8941F3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API Gateway</a:t>
            </a:r>
            <a:r>
              <a:rPr lang="en-US" b="true" sz="585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→ request handling</a:t>
            </a:r>
          </a:p>
          <a:p>
            <a:pPr algn="l" marL="1264250" indent="-632125" lvl="1">
              <a:lnSpc>
                <a:spcPts val="8198"/>
              </a:lnSpc>
              <a:buFont typeface="Arial"/>
              <a:buChar char="•"/>
            </a:pPr>
            <a:r>
              <a:rPr lang="en-US" b="true" sz="5855">
                <a:solidFill>
                  <a:srgbClr val="4701F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Dynamo DB</a:t>
            </a:r>
            <a:r>
              <a:rPr lang="en-US" b="true" sz="585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→ store rides &amp; drivers</a:t>
            </a:r>
          </a:p>
          <a:p>
            <a:pPr algn="l" marL="1264250" indent="-632125" lvl="1">
              <a:lnSpc>
                <a:spcPts val="8198"/>
              </a:lnSpc>
              <a:buFont typeface="Arial"/>
              <a:buChar char="•"/>
            </a:pPr>
            <a:r>
              <a:rPr lang="en-US" b="true" sz="5855">
                <a:solidFill>
                  <a:srgbClr val="FF66C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SNS</a:t>
            </a:r>
            <a:r>
              <a:rPr lang="en-US" b="true" sz="585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→ send notifications</a:t>
            </a:r>
          </a:p>
          <a:p>
            <a:pPr algn="l">
              <a:lnSpc>
                <a:spcPts val="8198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88224" y="547688"/>
            <a:ext cx="1080953" cy="1080953"/>
          </a:xfrm>
          <a:custGeom>
            <a:avLst/>
            <a:gdLst/>
            <a:ahLst/>
            <a:cxnLst/>
            <a:rect r="r" b="b" t="t" l="l"/>
            <a:pathLst>
              <a:path h="1080953" w="1080953">
                <a:moveTo>
                  <a:pt x="0" y="0"/>
                </a:moveTo>
                <a:lnTo>
                  <a:pt x="1080952" y="0"/>
                </a:lnTo>
                <a:lnTo>
                  <a:pt x="1080952" y="1080952"/>
                </a:lnTo>
                <a:lnTo>
                  <a:pt x="0" y="1080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57487" y="607151"/>
            <a:ext cx="9090637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19"/>
              </a:lnSpc>
            </a:pPr>
            <a:r>
              <a:rPr lang="en-US" sz="6349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Services Used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555" r="0" b="-34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4799" y="7097080"/>
            <a:ext cx="5881052" cy="6379839"/>
          </a:xfrm>
          <a:custGeom>
            <a:avLst/>
            <a:gdLst/>
            <a:ahLst/>
            <a:cxnLst/>
            <a:rect r="r" b="b" t="t" l="l"/>
            <a:pathLst>
              <a:path h="6379839" w="5881052">
                <a:moveTo>
                  <a:pt x="0" y="0"/>
                </a:moveTo>
                <a:lnTo>
                  <a:pt x="5881052" y="0"/>
                </a:lnTo>
                <a:lnTo>
                  <a:pt x="5881052" y="6379840"/>
                </a:lnTo>
                <a:lnTo>
                  <a:pt x="0" y="6379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46052" y="7097080"/>
            <a:ext cx="5979720" cy="5979720"/>
          </a:xfrm>
          <a:custGeom>
            <a:avLst/>
            <a:gdLst/>
            <a:ahLst/>
            <a:cxnLst/>
            <a:rect r="r" b="b" t="t" l="l"/>
            <a:pathLst>
              <a:path h="5979720" w="5979720">
                <a:moveTo>
                  <a:pt x="0" y="0"/>
                </a:moveTo>
                <a:lnTo>
                  <a:pt x="5979720" y="0"/>
                </a:lnTo>
                <a:lnTo>
                  <a:pt x="5979720" y="5979720"/>
                </a:lnTo>
                <a:lnTo>
                  <a:pt x="0" y="5979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837894">
            <a:off x="4271981" y="8635636"/>
            <a:ext cx="1217836" cy="635489"/>
          </a:xfrm>
          <a:custGeom>
            <a:avLst/>
            <a:gdLst/>
            <a:ahLst/>
            <a:cxnLst/>
            <a:rect r="r" b="b" t="t" l="l"/>
            <a:pathLst>
              <a:path h="635489" w="1217836">
                <a:moveTo>
                  <a:pt x="0" y="0"/>
                </a:moveTo>
                <a:lnTo>
                  <a:pt x="1217836" y="0"/>
                </a:lnTo>
                <a:lnTo>
                  <a:pt x="1217836" y="635489"/>
                </a:lnTo>
                <a:lnTo>
                  <a:pt x="0" y="6354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881638" y="945356"/>
            <a:ext cx="3708773" cy="1285875"/>
            <a:chOff x="0" y="0"/>
            <a:chExt cx="897656" cy="3112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7656" cy="311228"/>
            </a:xfrm>
            <a:custGeom>
              <a:avLst/>
              <a:gdLst/>
              <a:ahLst/>
              <a:cxnLst/>
              <a:rect r="r" b="b" t="t" l="l"/>
              <a:pathLst>
                <a:path h="311228" w="897656">
                  <a:moveTo>
                    <a:pt x="62624" y="0"/>
                  </a:moveTo>
                  <a:lnTo>
                    <a:pt x="835033" y="0"/>
                  </a:lnTo>
                  <a:cubicBezTo>
                    <a:pt x="851642" y="0"/>
                    <a:pt x="867570" y="6598"/>
                    <a:pt x="879314" y="18342"/>
                  </a:cubicBezTo>
                  <a:cubicBezTo>
                    <a:pt x="891059" y="30086"/>
                    <a:pt x="897656" y="46015"/>
                    <a:pt x="897656" y="62624"/>
                  </a:cubicBezTo>
                  <a:lnTo>
                    <a:pt x="897656" y="248604"/>
                  </a:lnTo>
                  <a:cubicBezTo>
                    <a:pt x="897656" y="265213"/>
                    <a:pt x="891059" y="281142"/>
                    <a:pt x="879314" y="292886"/>
                  </a:cubicBezTo>
                  <a:cubicBezTo>
                    <a:pt x="867570" y="304630"/>
                    <a:pt x="851642" y="311228"/>
                    <a:pt x="835033" y="311228"/>
                  </a:cubicBezTo>
                  <a:lnTo>
                    <a:pt x="62624" y="311228"/>
                  </a:lnTo>
                  <a:cubicBezTo>
                    <a:pt x="46015" y="311228"/>
                    <a:pt x="30086" y="304630"/>
                    <a:pt x="18342" y="292886"/>
                  </a:cubicBezTo>
                  <a:cubicBezTo>
                    <a:pt x="6598" y="281142"/>
                    <a:pt x="0" y="265213"/>
                    <a:pt x="0" y="248604"/>
                  </a:cubicBezTo>
                  <a:lnTo>
                    <a:pt x="0" y="62624"/>
                  </a:lnTo>
                  <a:cubicBezTo>
                    <a:pt x="0" y="46015"/>
                    <a:pt x="6598" y="30086"/>
                    <a:pt x="18342" y="18342"/>
                  </a:cubicBezTo>
                  <a:cubicBezTo>
                    <a:pt x="30086" y="6598"/>
                    <a:pt x="46015" y="0"/>
                    <a:pt x="62624" y="0"/>
                  </a:cubicBezTo>
                  <a:close/>
                </a:path>
              </a:pathLst>
            </a:custGeom>
            <a:solidFill>
              <a:srgbClr val="3781A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897656" cy="368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736025" y="2231231"/>
            <a:ext cx="0" cy="452342"/>
          </a:xfrm>
          <a:prstGeom prst="line">
            <a:avLst/>
          </a:prstGeom>
          <a:ln cap="flat" w="38100">
            <a:solidFill>
              <a:srgbClr val="7BC4D6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881638" y="2683573"/>
            <a:ext cx="3708773" cy="1285875"/>
            <a:chOff x="0" y="0"/>
            <a:chExt cx="897656" cy="3112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7656" cy="311228"/>
            </a:xfrm>
            <a:custGeom>
              <a:avLst/>
              <a:gdLst/>
              <a:ahLst/>
              <a:cxnLst/>
              <a:rect r="r" b="b" t="t" l="l"/>
              <a:pathLst>
                <a:path h="311228" w="897656">
                  <a:moveTo>
                    <a:pt x="62624" y="0"/>
                  </a:moveTo>
                  <a:lnTo>
                    <a:pt x="835033" y="0"/>
                  </a:lnTo>
                  <a:cubicBezTo>
                    <a:pt x="851642" y="0"/>
                    <a:pt x="867570" y="6598"/>
                    <a:pt x="879314" y="18342"/>
                  </a:cubicBezTo>
                  <a:cubicBezTo>
                    <a:pt x="891059" y="30086"/>
                    <a:pt x="897656" y="46015"/>
                    <a:pt x="897656" y="62624"/>
                  </a:cubicBezTo>
                  <a:lnTo>
                    <a:pt x="897656" y="248604"/>
                  </a:lnTo>
                  <a:cubicBezTo>
                    <a:pt x="897656" y="265213"/>
                    <a:pt x="891059" y="281142"/>
                    <a:pt x="879314" y="292886"/>
                  </a:cubicBezTo>
                  <a:cubicBezTo>
                    <a:pt x="867570" y="304630"/>
                    <a:pt x="851642" y="311228"/>
                    <a:pt x="835033" y="311228"/>
                  </a:cubicBezTo>
                  <a:lnTo>
                    <a:pt x="62624" y="311228"/>
                  </a:lnTo>
                  <a:cubicBezTo>
                    <a:pt x="46015" y="311228"/>
                    <a:pt x="30086" y="304630"/>
                    <a:pt x="18342" y="292886"/>
                  </a:cubicBezTo>
                  <a:cubicBezTo>
                    <a:pt x="6598" y="281142"/>
                    <a:pt x="0" y="265213"/>
                    <a:pt x="0" y="248604"/>
                  </a:cubicBezTo>
                  <a:lnTo>
                    <a:pt x="0" y="62624"/>
                  </a:lnTo>
                  <a:cubicBezTo>
                    <a:pt x="0" y="46015"/>
                    <a:pt x="6598" y="30086"/>
                    <a:pt x="18342" y="18342"/>
                  </a:cubicBezTo>
                  <a:cubicBezTo>
                    <a:pt x="30086" y="6598"/>
                    <a:pt x="46015" y="0"/>
                    <a:pt x="62624" y="0"/>
                  </a:cubicBezTo>
                  <a:close/>
                </a:path>
              </a:pathLst>
            </a:custGeom>
            <a:solidFill>
              <a:srgbClr val="3781A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897656" cy="368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0736025" y="3969448"/>
            <a:ext cx="0" cy="452342"/>
          </a:xfrm>
          <a:prstGeom prst="line">
            <a:avLst/>
          </a:prstGeom>
          <a:ln cap="flat" w="38100">
            <a:solidFill>
              <a:srgbClr val="7BC4D6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881638" y="4421791"/>
            <a:ext cx="3708773" cy="1285875"/>
            <a:chOff x="0" y="0"/>
            <a:chExt cx="897656" cy="3112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7656" cy="311228"/>
            </a:xfrm>
            <a:custGeom>
              <a:avLst/>
              <a:gdLst/>
              <a:ahLst/>
              <a:cxnLst/>
              <a:rect r="r" b="b" t="t" l="l"/>
              <a:pathLst>
                <a:path h="311228" w="897656">
                  <a:moveTo>
                    <a:pt x="62624" y="0"/>
                  </a:moveTo>
                  <a:lnTo>
                    <a:pt x="835033" y="0"/>
                  </a:lnTo>
                  <a:cubicBezTo>
                    <a:pt x="851642" y="0"/>
                    <a:pt x="867570" y="6598"/>
                    <a:pt x="879314" y="18342"/>
                  </a:cubicBezTo>
                  <a:cubicBezTo>
                    <a:pt x="891059" y="30086"/>
                    <a:pt x="897656" y="46015"/>
                    <a:pt x="897656" y="62624"/>
                  </a:cubicBezTo>
                  <a:lnTo>
                    <a:pt x="897656" y="248604"/>
                  </a:lnTo>
                  <a:cubicBezTo>
                    <a:pt x="897656" y="265213"/>
                    <a:pt x="891059" y="281142"/>
                    <a:pt x="879314" y="292886"/>
                  </a:cubicBezTo>
                  <a:cubicBezTo>
                    <a:pt x="867570" y="304630"/>
                    <a:pt x="851642" y="311228"/>
                    <a:pt x="835033" y="311228"/>
                  </a:cubicBezTo>
                  <a:lnTo>
                    <a:pt x="62624" y="311228"/>
                  </a:lnTo>
                  <a:cubicBezTo>
                    <a:pt x="46015" y="311228"/>
                    <a:pt x="30086" y="304630"/>
                    <a:pt x="18342" y="292886"/>
                  </a:cubicBezTo>
                  <a:cubicBezTo>
                    <a:pt x="6598" y="281142"/>
                    <a:pt x="0" y="265213"/>
                    <a:pt x="0" y="248604"/>
                  </a:cubicBezTo>
                  <a:lnTo>
                    <a:pt x="0" y="62624"/>
                  </a:lnTo>
                  <a:cubicBezTo>
                    <a:pt x="0" y="46015"/>
                    <a:pt x="6598" y="30086"/>
                    <a:pt x="18342" y="18342"/>
                  </a:cubicBezTo>
                  <a:cubicBezTo>
                    <a:pt x="30086" y="6598"/>
                    <a:pt x="46015" y="0"/>
                    <a:pt x="62624" y="0"/>
                  </a:cubicBezTo>
                  <a:close/>
                </a:path>
              </a:pathLst>
            </a:custGeom>
            <a:solidFill>
              <a:srgbClr val="3781A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97656" cy="368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0736025" y="5707666"/>
            <a:ext cx="0" cy="471868"/>
          </a:xfrm>
          <a:prstGeom prst="line">
            <a:avLst/>
          </a:prstGeom>
          <a:ln cap="flat" w="38100">
            <a:solidFill>
              <a:srgbClr val="7BC4D6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8881638" y="6179534"/>
            <a:ext cx="3708773" cy="1285875"/>
            <a:chOff x="0" y="0"/>
            <a:chExt cx="897656" cy="3112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656" cy="311228"/>
            </a:xfrm>
            <a:custGeom>
              <a:avLst/>
              <a:gdLst/>
              <a:ahLst/>
              <a:cxnLst/>
              <a:rect r="r" b="b" t="t" l="l"/>
              <a:pathLst>
                <a:path h="311228" w="897656">
                  <a:moveTo>
                    <a:pt x="62624" y="0"/>
                  </a:moveTo>
                  <a:lnTo>
                    <a:pt x="835033" y="0"/>
                  </a:lnTo>
                  <a:cubicBezTo>
                    <a:pt x="851642" y="0"/>
                    <a:pt x="867570" y="6598"/>
                    <a:pt x="879314" y="18342"/>
                  </a:cubicBezTo>
                  <a:cubicBezTo>
                    <a:pt x="891059" y="30086"/>
                    <a:pt x="897656" y="46015"/>
                    <a:pt x="897656" y="62624"/>
                  </a:cubicBezTo>
                  <a:lnTo>
                    <a:pt x="897656" y="248604"/>
                  </a:lnTo>
                  <a:cubicBezTo>
                    <a:pt x="897656" y="265213"/>
                    <a:pt x="891059" y="281142"/>
                    <a:pt x="879314" y="292886"/>
                  </a:cubicBezTo>
                  <a:cubicBezTo>
                    <a:pt x="867570" y="304630"/>
                    <a:pt x="851642" y="311228"/>
                    <a:pt x="835033" y="311228"/>
                  </a:cubicBezTo>
                  <a:lnTo>
                    <a:pt x="62624" y="311228"/>
                  </a:lnTo>
                  <a:cubicBezTo>
                    <a:pt x="46015" y="311228"/>
                    <a:pt x="30086" y="304630"/>
                    <a:pt x="18342" y="292886"/>
                  </a:cubicBezTo>
                  <a:cubicBezTo>
                    <a:pt x="6598" y="281142"/>
                    <a:pt x="0" y="265213"/>
                    <a:pt x="0" y="248604"/>
                  </a:cubicBezTo>
                  <a:lnTo>
                    <a:pt x="0" y="62624"/>
                  </a:lnTo>
                  <a:cubicBezTo>
                    <a:pt x="0" y="46015"/>
                    <a:pt x="6598" y="30086"/>
                    <a:pt x="18342" y="18342"/>
                  </a:cubicBezTo>
                  <a:cubicBezTo>
                    <a:pt x="30086" y="6598"/>
                    <a:pt x="46015" y="0"/>
                    <a:pt x="62624" y="0"/>
                  </a:cubicBezTo>
                  <a:close/>
                </a:path>
              </a:pathLst>
            </a:custGeom>
            <a:solidFill>
              <a:srgbClr val="3781A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897656" cy="368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0755075" y="7465409"/>
            <a:ext cx="0" cy="471868"/>
          </a:xfrm>
          <a:prstGeom prst="line">
            <a:avLst/>
          </a:prstGeom>
          <a:ln cap="flat" w="38100">
            <a:solidFill>
              <a:srgbClr val="7BC4D6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8900688" y="8046053"/>
            <a:ext cx="3708773" cy="1285875"/>
            <a:chOff x="0" y="0"/>
            <a:chExt cx="897656" cy="3112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97656" cy="311228"/>
            </a:xfrm>
            <a:custGeom>
              <a:avLst/>
              <a:gdLst/>
              <a:ahLst/>
              <a:cxnLst/>
              <a:rect r="r" b="b" t="t" l="l"/>
              <a:pathLst>
                <a:path h="311228" w="897656">
                  <a:moveTo>
                    <a:pt x="62624" y="0"/>
                  </a:moveTo>
                  <a:lnTo>
                    <a:pt x="835033" y="0"/>
                  </a:lnTo>
                  <a:cubicBezTo>
                    <a:pt x="851642" y="0"/>
                    <a:pt x="867570" y="6598"/>
                    <a:pt x="879314" y="18342"/>
                  </a:cubicBezTo>
                  <a:cubicBezTo>
                    <a:pt x="891059" y="30086"/>
                    <a:pt x="897656" y="46015"/>
                    <a:pt x="897656" y="62624"/>
                  </a:cubicBezTo>
                  <a:lnTo>
                    <a:pt x="897656" y="248604"/>
                  </a:lnTo>
                  <a:cubicBezTo>
                    <a:pt x="897656" y="265213"/>
                    <a:pt x="891059" y="281142"/>
                    <a:pt x="879314" y="292886"/>
                  </a:cubicBezTo>
                  <a:cubicBezTo>
                    <a:pt x="867570" y="304630"/>
                    <a:pt x="851642" y="311228"/>
                    <a:pt x="835033" y="311228"/>
                  </a:cubicBezTo>
                  <a:lnTo>
                    <a:pt x="62624" y="311228"/>
                  </a:lnTo>
                  <a:cubicBezTo>
                    <a:pt x="46015" y="311228"/>
                    <a:pt x="30086" y="304630"/>
                    <a:pt x="18342" y="292886"/>
                  </a:cubicBezTo>
                  <a:cubicBezTo>
                    <a:pt x="6598" y="281142"/>
                    <a:pt x="0" y="265213"/>
                    <a:pt x="0" y="248604"/>
                  </a:cubicBezTo>
                  <a:lnTo>
                    <a:pt x="0" y="62624"/>
                  </a:lnTo>
                  <a:cubicBezTo>
                    <a:pt x="0" y="46015"/>
                    <a:pt x="6598" y="30086"/>
                    <a:pt x="18342" y="18342"/>
                  </a:cubicBezTo>
                  <a:cubicBezTo>
                    <a:pt x="30086" y="6598"/>
                    <a:pt x="46015" y="0"/>
                    <a:pt x="62624" y="0"/>
                  </a:cubicBezTo>
                  <a:close/>
                </a:path>
              </a:pathLst>
            </a:custGeom>
            <a:solidFill>
              <a:srgbClr val="3781A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897656" cy="368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4123091" y="3772951"/>
            <a:ext cx="1515615" cy="1515615"/>
          </a:xfrm>
          <a:custGeom>
            <a:avLst/>
            <a:gdLst/>
            <a:ahLst/>
            <a:cxnLst/>
            <a:rect r="r" b="b" t="t" l="l"/>
            <a:pathLst>
              <a:path h="1515615" w="1515615">
                <a:moveTo>
                  <a:pt x="0" y="0"/>
                </a:moveTo>
                <a:lnTo>
                  <a:pt x="1515615" y="0"/>
                </a:lnTo>
                <a:lnTo>
                  <a:pt x="1515615" y="1515615"/>
                </a:lnTo>
                <a:lnTo>
                  <a:pt x="0" y="15156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387517" y="3772951"/>
            <a:ext cx="1515615" cy="1515615"/>
          </a:xfrm>
          <a:custGeom>
            <a:avLst/>
            <a:gdLst/>
            <a:ahLst/>
            <a:cxnLst/>
            <a:rect r="r" b="b" t="t" l="l"/>
            <a:pathLst>
              <a:path h="1515615" w="1515615">
                <a:moveTo>
                  <a:pt x="0" y="0"/>
                </a:moveTo>
                <a:lnTo>
                  <a:pt x="1515615" y="0"/>
                </a:lnTo>
                <a:lnTo>
                  <a:pt x="1515615" y="1515615"/>
                </a:lnTo>
                <a:lnTo>
                  <a:pt x="0" y="151561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259461" y="5497166"/>
            <a:ext cx="1621438" cy="1599914"/>
          </a:xfrm>
          <a:custGeom>
            <a:avLst/>
            <a:gdLst/>
            <a:ahLst/>
            <a:cxnLst/>
            <a:rect r="r" b="b" t="t" l="l"/>
            <a:pathLst>
              <a:path h="1599914" w="1621438">
                <a:moveTo>
                  <a:pt x="0" y="0"/>
                </a:moveTo>
                <a:lnTo>
                  <a:pt x="1621438" y="0"/>
                </a:lnTo>
                <a:lnTo>
                  <a:pt x="1621438" y="1599914"/>
                </a:lnTo>
                <a:lnTo>
                  <a:pt x="0" y="15999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251205" y="1373791"/>
            <a:ext cx="3849961" cy="38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</a:pPr>
            <a:r>
              <a:rPr lang="en-US" sz="2235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User sends Request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251205" y="2916745"/>
            <a:ext cx="3849961" cy="77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</a:pPr>
            <a:r>
              <a:rPr lang="en-US" sz="2235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API gateways trigger lambda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251205" y="4850225"/>
            <a:ext cx="3849961" cy="38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</a:pPr>
            <a:r>
              <a:rPr lang="en-US" sz="2235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Lambda assigns driver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51205" y="6607969"/>
            <a:ext cx="3849961" cy="38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</a:pPr>
            <a:r>
              <a:rPr lang="en-US" sz="2235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s</a:t>
            </a:r>
            <a:r>
              <a:rPr lang="en-US" sz="2235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tores data in DynamoDB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5437" y="1030891"/>
            <a:ext cx="7470924" cy="121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2"/>
              </a:lnSpc>
            </a:pPr>
            <a:r>
              <a:rPr lang="en-US" sz="8001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Architecture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10023" y="3045016"/>
            <a:ext cx="3052004" cy="50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72"/>
              </a:lnSpc>
              <a:spcBef>
                <a:spcPct val="0"/>
              </a:spcBef>
            </a:pPr>
            <a:r>
              <a:rPr lang="en-US" sz="298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API gateway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0" y="4783233"/>
            <a:ext cx="3052004" cy="50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72"/>
              </a:lnSpc>
              <a:spcBef>
                <a:spcPct val="0"/>
              </a:spcBef>
            </a:pPr>
            <a:r>
              <a:rPr lang="en-US" sz="298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AWS lambda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0" y="6541231"/>
            <a:ext cx="3052004" cy="50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72"/>
              </a:lnSpc>
              <a:spcBef>
                <a:spcPct val="0"/>
              </a:spcBef>
            </a:pPr>
            <a:r>
              <a:rPr lang="en-US" sz="298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Dynamo DB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10023" y="1307053"/>
            <a:ext cx="3052004" cy="50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72"/>
              </a:lnSpc>
              <a:spcBef>
                <a:spcPct val="0"/>
              </a:spcBef>
            </a:pPr>
            <a:r>
              <a:rPr lang="en-US" sz="298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USER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29073" y="8407750"/>
            <a:ext cx="3052004" cy="50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72"/>
              </a:lnSpc>
              <a:spcBef>
                <a:spcPct val="0"/>
              </a:spcBef>
            </a:pPr>
            <a:r>
              <a:rPr lang="en-US" sz="2980">
                <a:solidFill>
                  <a:srgbClr val="FFFFFF"/>
                </a:solidFill>
                <a:latin typeface="Anantason"/>
                <a:ea typeface="Anantason"/>
                <a:cs typeface="Anantason"/>
                <a:sym typeface="Anantason"/>
              </a:rPr>
              <a:t>Amazon SNS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00127" y="2359126"/>
            <a:ext cx="8016234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is</a:t>
            </a: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an event-driven serverless architecture.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251205" y="8388953"/>
            <a:ext cx="3849961" cy="38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</a:pPr>
            <a:r>
              <a:rPr lang="en-US" sz="2235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SNS se</a:t>
            </a:r>
            <a:r>
              <a:rPr lang="en-US" sz="2235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nds notification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66423"/>
            <a:ext cx="8956428" cy="9224785"/>
          </a:xfrm>
          <a:custGeom>
            <a:avLst/>
            <a:gdLst/>
            <a:ahLst/>
            <a:cxnLst/>
            <a:rect r="r" b="b" t="t" l="l"/>
            <a:pathLst>
              <a:path h="9224785" w="8956428">
                <a:moveTo>
                  <a:pt x="0" y="0"/>
                </a:moveTo>
                <a:lnTo>
                  <a:pt x="8956428" y="0"/>
                </a:lnTo>
                <a:lnTo>
                  <a:pt x="8956428" y="9224786"/>
                </a:lnTo>
                <a:lnTo>
                  <a:pt x="0" y="9224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8991" y="3168776"/>
            <a:ext cx="16730017" cy="5855506"/>
          </a:xfrm>
          <a:custGeom>
            <a:avLst/>
            <a:gdLst/>
            <a:ahLst/>
            <a:cxnLst/>
            <a:rect r="r" b="b" t="t" l="l"/>
            <a:pathLst>
              <a:path h="5855506" w="16730017">
                <a:moveTo>
                  <a:pt x="0" y="0"/>
                </a:moveTo>
                <a:lnTo>
                  <a:pt x="16730018" y="0"/>
                </a:lnTo>
                <a:lnTo>
                  <a:pt x="16730018" y="5855506"/>
                </a:lnTo>
                <a:lnTo>
                  <a:pt x="0" y="58555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84577" y="159703"/>
            <a:ext cx="631884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4F4F4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Dynamo DB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91723" y="1602422"/>
            <a:ext cx="2304554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true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Tables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66423"/>
            <a:ext cx="8956428" cy="9224785"/>
          </a:xfrm>
          <a:custGeom>
            <a:avLst/>
            <a:gdLst/>
            <a:ahLst/>
            <a:cxnLst/>
            <a:rect r="r" b="b" t="t" l="l"/>
            <a:pathLst>
              <a:path h="9224785" w="8956428">
                <a:moveTo>
                  <a:pt x="0" y="0"/>
                </a:moveTo>
                <a:lnTo>
                  <a:pt x="8956428" y="0"/>
                </a:lnTo>
                <a:lnTo>
                  <a:pt x="8956428" y="9224786"/>
                </a:lnTo>
                <a:lnTo>
                  <a:pt x="0" y="9224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56979" y="2221862"/>
            <a:ext cx="11970254" cy="7669346"/>
          </a:xfrm>
          <a:custGeom>
            <a:avLst/>
            <a:gdLst/>
            <a:ahLst/>
            <a:cxnLst/>
            <a:rect r="r" b="b" t="t" l="l"/>
            <a:pathLst>
              <a:path h="7669346" w="11970254">
                <a:moveTo>
                  <a:pt x="0" y="0"/>
                </a:moveTo>
                <a:lnTo>
                  <a:pt x="11970254" y="0"/>
                </a:lnTo>
                <a:lnTo>
                  <a:pt x="11970254" y="7669347"/>
                </a:lnTo>
                <a:lnTo>
                  <a:pt x="0" y="76693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2" r="0" b="-4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58857" y="-171450"/>
            <a:ext cx="277028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4F4F4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Table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30183" y="904875"/>
            <a:ext cx="2027634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true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Items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66423"/>
            <a:ext cx="8956428" cy="9224785"/>
          </a:xfrm>
          <a:custGeom>
            <a:avLst/>
            <a:gdLst/>
            <a:ahLst/>
            <a:cxnLst/>
            <a:rect r="r" b="b" t="t" l="l"/>
            <a:pathLst>
              <a:path h="9224785" w="8956428">
                <a:moveTo>
                  <a:pt x="0" y="0"/>
                </a:moveTo>
                <a:lnTo>
                  <a:pt x="8956428" y="0"/>
                </a:lnTo>
                <a:lnTo>
                  <a:pt x="8956428" y="9224786"/>
                </a:lnTo>
                <a:lnTo>
                  <a:pt x="0" y="9224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412549"/>
            <a:ext cx="16230600" cy="5003367"/>
          </a:xfrm>
          <a:custGeom>
            <a:avLst/>
            <a:gdLst/>
            <a:ahLst/>
            <a:cxnLst/>
            <a:rect r="r" b="b" t="t" l="l"/>
            <a:pathLst>
              <a:path h="5003367" w="16230600">
                <a:moveTo>
                  <a:pt x="0" y="0"/>
                </a:moveTo>
                <a:lnTo>
                  <a:pt x="16230600" y="0"/>
                </a:lnTo>
                <a:lnTo>
                  <a:pt x="16230600" y="5003367"/>
                </a:lnTo>
                <a:lnTo>
                  <a:pt x="0" y="50033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94" r="0" b="-129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47831" y="159703"/>
            <a:ext cx="299233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4F4F4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Items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02252" y="1465480"/>
            <a:ext cx="3683496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true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Attributes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555" r="0" b="-34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10240" y="1267598"/>
            <a:ext cx="8115300" cy="8803580"/>
          </a:xfrm>
          <a:custGeom>
            <a:avLst/>
            <a:gdLst/>
            <a:ahLst/>
            <a:cxnLst/>
            <a:rect r="r" b="b" t="t" l="l"/>
            <a:pathLst>
              <a:path h="8803580" w="8115300">
                <a:moveTo>
                  <a:pt x="0" y="0"/>
                </a:moveTo>
                <a:lnTo>
                  <a:pt x="8115300" y="0"/>
                </a:lnTo>
                <a:lnTo>
                  <a:pt x="8115300" y="8803580"/>
                </a:lnTo>
                <a:lnTo>
                  <a:pt x="0" y="88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65709" y="2628842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7" y="0"/>
                </a:lnTo>
                <a:lnTo>
                  <a:pt x="5029317" y="5029316"/>
                </a:lnTo>
                <a:lnTo>
                  <a:pt x="0" y="50293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47450" y="3705225"/>
            <a:ext cx="9272368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58"/>
              </a:lnSpc>
              <a:spcBef>
                <a:spcPct val="0"/>
              </a:spcBef>
            </a:pPr>
            <a:r>
              <a:rPr lang="en-US" sz="9465">
                <a:solidFill>
                  <a:srgbClr val="FFDE59"/>
                </a:solidFill>
                <a:latin typeface="Garet"/>
                <a:ea typeface="Garet"/>
                <a:cs typeface="Garet"/>
                <a:sym typeface="Garet"/>
              </a:rPr>
              <a:t>Lambda Function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555" r="0" b="-34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10240" y="1267598"/>
            <a:ext cx="8115300" cy="8803580"/>
          </a:xfrm>
          <a:custGeom>
            <a:avLst/>
            <a:gdLst/>
            <a:ahLst/>
            <a:cxnLst/>
            <a:rect r="r" b="b" t="t" l="l"/>
            <a:pathLst>
              <a:path h="8803580" w="8115300">
                <a:moveTo>
                  <a:pt x="0" y="0"/>
                </a:moveTo>
                <a:lnTo>
                  <a:pt x="8115300" y="0"/>
                </a:lnTo>
                <a:lnTo>
                  <a:pt x="8115300" y="8803580"/>
                </a:lnTo>
                <a:lnTo>
                  <a:pt x="0" y="88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97838" y="2520819"/>
            <a:ext cx="5245361" cy="5245361"/>
          </a:xfrm>
          <a:custGeom>
            <a:avLst/>
            <a:gdLst/>
            <a:ahLst/>
            <a:cxnLst/>
            <a:rect r="r" b="b" t="t" l="l"/>
            <a:pathLst>
              <a:path h="5245361" w="5245361">
                <a:moveTo>
                  <a:pt x="0" y="0"/>
                </a:moveTo>
                <a:lnTo>
                  <a:pt x="5245362" y="0"/>
                </a:lnTo>
                <a:lnTo>
                  <a:pt x="5245362" y="5245362"/>
                </a:lnTo>
                <a:lnTo>
                  <a:pt x="0" y="5245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47450" y="4424362"/>
            <a:ext cx="9272368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58"/>
              </a:lnSpc>
              <a:spcBef>
                <a:spcPct val="0"/>
              </a:spcBef>
            </a:pPr>
            <a:r>
              <a:rPr lang="en-US" sz="9465">
                <a:solidFill>
                  <a:srgbClr val="FFDE59"/>
                </a:solidFill>
                <a:latin typeface="Garet"/>
                <a:ea typeface="Garet"/>
                <a:cs typeface="Garet"/>
                <a:sym typeface="Garet"/>
              </a:rPr>
              <a:t>Amazon SNS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555" r="0" b="-34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1013" y="1388260"/>
            <a:ext cx="7641094" cy="7870040"/>
          </a:xfrm>
          <a:custGeom>
            <a:avLst/>
            <a:gdLst/>
            <a:ahLst/>
            <a:cxnLst/>
            <a:rect r="r" b="b" t="t" l="l"/>
            <a:pathLst>
              <a:path h="7870040" w="7641094">
                <a:moveTo>
                  <a:pt x="0" y="0"/>
                </a:moveTo>
                <a:lnTo>
                  <a:pt x="7641094" y="0"/>
                </a:lnTo>
                <a:lnTo>
                  <a:pt x="7641094" y="7870040"/>
                </a:lnTo>
                <a:lnTo>
                  <a:pt x="0" y="7870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34008" y="5960200"/>
            <a:ext cx="3298100" cy="3298100"/>
          </a:xfrm>
          <a:custGeom>
            <a:avLst/>
            <a:gdLst/>
            <a:ahLst/>
            <a:cxnLst/>
            <a:rect r="r" b="b" t="t" l="l"/>
            <a:pathLst>
              <a:path h="3298100" w="3298100">
                <a:moveTo>
                  <a:pt x="0" y="0"/>
                </a:moveTo>
                <a:lnTo>
                  <a:pt x="3298099" y="0"/>
                </a:lnTo>
                <a:lnTo>
                  <a:pt x="3298099" y="3298100"/>
                </a:lnTo>
                <a:lnTo>
                  <a:pt x="0" y="3298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8019" y="1028700"/>
            <a:ext cx="2846035" cy="2931310"/>
          </a:xfrm>
          <a:custGeom>
            <a:avLst/>
            <a:gdLst/>
            <a:ahLst/>
            <a:cxnLst/>
            <a:rect r="r" b="b" t="t" l="l"/>
            <a:pathLst>
              <a:path h="2931310" w="2846035">
                <a:moveTo>
                  <a:pt x="0" y="0"/>
                </a:moveTo>
                <a:lnTo>
                  <a:pt x="2846035" y="0"/>
                </a:lnTo>
                <a:lnTo>
                  <a:pt x="2846035" y="2931310"/>
                </a:lnTo>
                <a:lnTo>
                  <a:pt x="0" y="29313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380942" y="2691765"/>
            <a:ext cx="7878358" cy="4903470"/>
            <a:chOff x="0" y="0"/>
            <a:chExt cx="10504477" cy="653796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525"/>
              <a:ext cx="10504477" cy="1704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199"/>
                </a:lnSpc>
              </a:pPr>
              <a:r>
                <a:rPr lang="en-US" sz="8499">
                  <a:solidFill>
                    <a:srgbClr val="FFFFFF"/>
                  </a:solidFill>
                  <a:latin typeface="Anantason"/>
                  <a:ea typeface="Anantason"/>
                  <a:cs typeface="Anantason"/>
                  <a:sym typeface="Anantason"/>
                </a:rPr>
                <a:t>Conclusion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384425"/>
              <a:ext cx="9006920" cy="4153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This Project demonstrates a fully serverless, </a:t>
              </a:r>
            </a:p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event driven architecture using </a:t>
              </a:r>
            </a:p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AWS cloud Services.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→ Real backend system</a:t>
              </a:r>
            </a:p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→ Real AWS service</a:t>
              </a:r>
            </a:p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→ Realtime Workflow</a:t>
              </a:r>
            </a:p>
            <a:p>
              <a:pPr algn="l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→ Working Notification System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555" r="0" b="-34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65972" y="-1942437"/>
            <a:ext cx="6879800" cy="7085937"/>
          </a:xfrm>
          <a:custGeom>
            <a:avLst/>
            <a:gdLst/>
            <a:ahLst/>
            <a:cxnLst/>
            <a:rect r="r" b="b" t="t" l="l"/>
            <a:pathLst>
              <a:path h="7085937" w="6879800">
                <a:moveTo>
                  <a:pt x="0" y="0"/>
                </a:moveTo>
                <a:lnTo>
                  <a:pt x="6879800" y="0"/>
                </a:lnTo>
                <a:lnTo>
                  <a:pt x="6879800" y="7085937"/>
                </a:lnTo>
                <a:lnTo>
                  <a:pt x="0" y="70859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840930" y="5815487"/>
            <a:ext cx="5949511" cy="6127774"/>
          </a:xfrm>
          <a:custGeom>
            <a:avLst/>
            <a:gdLst/>
            <a:ahLst/>
            <a:cxnLst/>
            <a:rect r="r" b="b" t="t" l="l"/>
            <a:pathLst>
              <a:path h="6127774" w="5949511">
                <a:moveTo>
                  <a:pt x="0" y="0"/>
                </a:moveTo>
                <a:lnTo>
                  <a:pt x="5949512" y="0"/>
                </a:lnTo>
                <a:lnTo>
                  <a:pt x="5949512" y="6127774"/>
                </a:lnTo>
                <a:lnTo>
                  <a:pt x="0" y="61277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02166" y="2711667"/>
            <a:ext cx="4863666" cy="4863666"/>
          </a:xfrm>
          <a:custGeom>
            <a:avLst/>
            <a:gdLst/>
            <a:ahLst/>
            <a:cxnLst/>
            <a:rect r="r" b="b" t="t" l="l"/>
            <a:pathLst>
              <a:path h="4863666" w="4863666">
                <a:moveTo>
                  <a:pt x="0" y="0"/>
                </a:moveTo>
                <a:lnTo>
                  <a:pt x="4863666" y="0"/>
                </a:lnTo>
                <a:lnTo>
                  <a:pt x="4863666" y="4863666"/>
                </a:lnTo>
                <a:lnTo>
                  <a:pt x="0" y="48636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706629" y="5890348"/>
            <a:ext cx="4029947" cy="757852"/>
            <a:chOff x="0" y="0"/>
            <a:chExt cx="5373262" cy="101047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5373262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 spc="191" u="none">
                  <a:solidFill>
                    <a:srgbClr val="FFFFFF"/>
                  </a:solidFill>
                  <a:latin typeface="Anantason Bold"/>
                  <a:ea typeface="Anantason Bold"/>
                  <a:cs typeface="Anantason Bold"/>
                  <a:sym typeface="Anantason Bold"/>
                </a:rPr>
                <a:t>PRESENTED BY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46073"/>
              <a:ext cx="5373262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Sanyam Atrey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0" y="4558577"/>
            <a:ext cx="7778842" cy="1331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98"/>
              </a:lnSpc>
            </a:pPr>
            <a:r>
              <a:rPr lang="en-US" sz="9804">
                <a:solidFill>
                  <a:srgbClr val="FFDE59"/>
                </a:solidFill>
                <a:latin typeface="Anantason"/>
                <a:ea typeface="Anantason"/>
                <a:cs typeface="Anantason"/>
                <a:sym typeface="Anantaso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DAGKld8IKkU</dc:identifier>
  <dcterms:modified xsi:type="dcterms:W3CDTF">2011-08-01T06:04:30Z</dcterms:modified>
  <cp:revision>1</cp:revision>
  <dc:title>Cybersecurity</dc:title>
</cp:coreProperties>
</file>